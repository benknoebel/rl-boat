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1" r:id="rId5"/>
    <p:sldId id="260" r:id="rId6"/>
    <p:sldId id="262" r:id="rId7"/>
    <p:sldId id="258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B5A490-E541-7F0B-C410-315E90B9A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CDBA37F-2EA0-F2C7-A5C5-399B985439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E39840-DACD-859A-F6B4-55211FC36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84FDC-7794-4BC9-B3A7-78477DF3E9AB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8DE8B15-E7DE-473C-CE22-F61C5A0EC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AABE12-519B-BCDB-F8D8-AF839CA9C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543A4-0D30-4E3F-8BF5-6B37164B85C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501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D91412-EB7C-BF2D-F43C-82EE11E3D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CD3F5A-FA99-78DD-C606-B1C8AC78B6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95DF439-574B-8523-05ED-9313B37A1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84FDC-7794-4BC9-B3A7-78477DF3E9AB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5E7A99B-399F-3952-E132-B59A52FD7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25407A-1D9F-E8F0-1CEF-9266C981A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543A4-0D30-4E3F-8BF5-6B37164B85C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4390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7EEC09-3787-7C3F-42DB-F787EDA5D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7A9D01-C70B-BD1A-7FC8-721E2A564E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B99DF4D-79DC-35F9-5943-9D1FDF0B2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84FDC-7794-4BC9-B3A7-78477DF3E9AB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AB50134-92FD-5BF6-6B80-8640355AC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2063B1-5319-9775-1B1F-08F659B97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543A4-0D30-4E3F-8BF5-6B37164B85C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127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41A4D9-F9FE-3CE3-11CA-27F5B613F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FE9071-689A-ED66-EAE7-AAA9C40D68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8C7AF0A-5498-E1A4-D9E5-7AE7A6F15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E2D674C-7C16-F330-6D4D-B7F8AB81C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84FDC-7794-4BC9-B3A7-78477DF3E9AB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9CDB585-AD2C-EAD7-4BA1-CA2F80CD0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5780A01-BDD2-1992-1975-40C49617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543A4-0D30-4E3F-8BF5-6B37164B85C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0249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1E6C33-9BF0-3991-2FE9-9424F6BDC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196066-AE05-ABC4-C45C-ECC0A2100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7EE2461-F34B-4B6F-46C0-A127BF718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D141AA9-5C4A-09AB-B609-A8CB11F43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BC5E4AA-B4C4-C747-6B33-8363B24774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45A7104-0B75-EDCA-A025-087149F9C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84FDC-7794-4BC9-B3A7-78477DF3E9AB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DBD74A8-1711-75E2-2678-617D97127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76F4039-3557-BE2D-8D94-DA226EB7A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543A4-0D30-4E3F-8BF5-6B37164B85C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3932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569E73-5B0F-2AAC-2AEF-A5CB2E565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453FF34-A8FC-D143-F862-2DFC2FF3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84FDC-7794-4BC9-B3A7-78477DF3E9AB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E165E-C659-5335-466A-7B9D8E2F3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985ADA0-ABF3-C374-A874-5B33E1E7C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543A4-0D30-4E3F-8BF5-6B37164B85C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7593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AC147C8-F146-6F86-3558-59C2835DC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84FDC-7794-4BC9-B3A7-78477DF3E9AB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529F11F-576B-809E-99A6-5578274E5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0AE7F6-10CF-EE87-4235-1860BB24E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543A4-0D30-4E3F-8BF5-6B37164B85C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8516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06554D-D817-58D3-9F2D-A1FDB24D3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5C9397-037A-75AB-B3A5-40EF690C2F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53B923E-BD47-8E71-81C4-038BD19C12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D1E9080-2680-806B-2E04-11D164CF6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84FDC-7794-4BC9-B3A7-78477DF3E9AB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05967FF-5F97-1F13-28B3-C767C4A8F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947D6F-A079-69DA-67DC-3070BC3BC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543A4-0D30-4E3F-8BF5-6B37164B85C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4726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ABE7DD-A4A8-F070-615A-A250DD791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AA1FC6-5A41-DBD7-635F-CCA79EB5FE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88892EE-E2C0-A3AA-B81E-C6097632E5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36D9758-27A0-D8BE-E7B8-6F5CB6D79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84FDC-7794-4BC9-B3A7-78477DF3E9AB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E72516B-9A09-E0EE-59DA-A7C209FF7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9216307-938E-20BC-6387-BB6FAA143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543A4-0D30-4E3F-8BF5-6B37164B85C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937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934E99-198C-3734-714A-1D066C1EE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8A3ADEE-0D68-54BE-0AF2-694E20E7D4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16D612-1D0F-440D-A43A-AF625215E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84FDC-7794-4BC9-B3A7-78477DF3E9AB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A0394D5-1CF5-4575-08BF-B45AF5DC0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363A07A-E2E4-C709-0C46-37190F997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543A4-0D30-4E3F-8BF5-6B37164B85C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69228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826ED40-8219-17AE-CDE6-E5D817636F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803C833-48BB-592E-AC39-5EDA64F4C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46DF37-0CD2-3B9D-07ED-F1E3B23CA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84FDC-7794-4BC9-B3A7-78477DF3E9AB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435D3-AF2F-EA9D-FE62-8C73B9883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E568A8-2D9A-CF9B-5135-A24562CF8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543A4-0D30-4E3F-8BF5-6B37164B85C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6382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EF6F2B0-67E8-E773-959C-11AB07A05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E2A3E9-A4EE-9B5E-A15A-5821CD7147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B7C0A16-0B5F-33FF-E414-0DA1771531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F84FDC-7794-4BC9-B3A7-78477DF3E9AB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FABE1B-81DD-BBC8-AFBC-360E695119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304EBD8-9B9C-DCBE-8F9D-7ADAFA3116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8543A4-0D30-4E3F-8BF5-6B37164B85C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9532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D8C369-7282-A7F0-C068-390ABC47DF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Escaping Venice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41A7FE0-9247-5920-F550-7A30855283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RL Path-Planning under constraints</a:t>
            </a:r>
          </a:p>
        </p:txBody>
      </p:sp>
    </p:spTree>
    <p:extLst>
      <p:ext uri="{BB962C8B-B14F-4D97-AF65-F5344CB8AC3E}">
        <p14:creationId xmlns:p14="http://schemas.microsoft.com/office/powerpoint/2010/main" val="2801829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fik 15">
            <a:extLst>
              <a:ext uri="{FF2B5EF4-FFF2-40B4-BE49-F238E27FC236}">
                <a16:creationId xmlns:a16="http://schemas.microsoft.com/office/drawing/2014/main" id="{CFE23659-33AE-D2EE-428B-73E41FE91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4122"/>
            <a:ext cx="12192000" cy="6862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034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A2B193-A1CA-36FE-947B-C74C52365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rowing boat – Action Space</a:t>
            </a:r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86BACEEA-5890-DFD7-1272-FE9090785147}"/>
              </a:ext>
            </a:extLst>
          </p:cNvPr>
          <p:cNvSpPr/>
          <p:nvPr/>
        </p:nvSpPr>
        <p:spPr>
          <a:xfrm>
            <a:off x="4257297" y="1459201"/>
            <a:ext cx="1270660" cy="1325563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44C2AA1-0D67-8A9F-0B5D-19C1356BE6FA}"/>
              </a:ext>
            </a:extLst>
          </p:cNvPr>
          <p:cNvSpPr/>
          <p:nvPr/>
        </p:nvSpPr>
        <p:spPr>
          <a:xfrm>
            <a:off x="4257297" y="2784764"/>
            <a:ext cx="1270660" cy="295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2F9A5D0-9292-6F4C-8574-EAF15EDC9E2A}"/>
              </a:ext>
            </a:extLst>
          </p:cNvPr>
          <p:cNvSpPr/>
          <p:nvPr/>
        </p:nvSpPr>
        <p:spPr>
          <a:xfrm rot="20243857">
            <a:off x="2291930" y="3902018"/>
            <a:ext cx="2529444" cy="33999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560D72F-E695-651C-6C4D-69454407408A}"/>
              </a:ext>
            </a:extLst>
          </p:cNvPr>
          <p:cNvSpPr/>
          <p:nvPr/>
        </p:nvSpPr>
        <p:spPr>
          <a:xfrm rot="1432450">
            <a:off x="4971489" y="3926324"/>
            <a:ext cx="2529444" cy="33999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1999B44-EDEC-4733-A375-26706E9522B0}"/>
              </a:ext>
            </a:extLst>
          </p:cNvPr>
          <p:cNvSpPr/>
          <p:nvPr/>
        </p:nvSpPr>
        <p:spPr>
          <a:xfrm rot="20186922" flipV="1">
            <a:off x="1902157" y="4543897"/>
            <a:ext cx="843149" cy="102577"/>
          </a:xfrm>
          <a:prstGeom prst="rect">
            <a:avLst/>
          </a:prstGeom>
          <a:solidFill>
            <a:srgbClr val="663300"/>
          </a:solidFill>
          <a:ln>
            <a:solidFill>
              <a:srgbClr val="66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A80C8B7-A9F9-522C-E8C7-8811F59E9360}"/>
              </a:ext>
            </a:extLst>
          </p:cNvPr>
          <p:cNvSpPr/>
          <p:nvPr/>
        </p:nvSpPr>
        <p:spPr>
          <a:xfrm rot="1476275" flipV="1">
            <a:off x="6953129" y="4574110"/>
            <a:ext cx="843149" cy="102577"/>
          </a:xfrm>
          <a:prstGeom prst="rect">
            <a:avLst/>
          </a:prstGeom>
          <a:solidFill>
            <a:srgbClr val="663300"/>
          </a:solidFill>
          <a:ln>
            <a:solidFill>
              <a:srgbClr val="66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Bogen 17">
            <a:extLst>
              <a:ext uri="{FF2B5EF4-FFF2-40B4-BE49-F238E27FC236}">
                <a16:creationId xmlns:a16="http://schemas.microsoft.com/office/drawing/2014/main" id="{0AB7B4C3-CFDF-62BC-D9D5-15FE082B0AAA}"/>
              </a:ext>
            </a:extLst>
          </p:cNvPr>
          <p:cNvSpPr/>
          <p:nvPr/>
        </p:nvSpPr>
        <p:spPr>
          <a:xfrm flipH="1">
            <a:off x="2371269" y="3082731"/>
            <a:ext cx="1965708" cy="1746372"/>
          </a:xfrm>
          <a:prstGeom prst="arc">
            <a:avLst>
              <a:gd name="adj1" fmla="val 16455465"/>
              <a:gd name="adj2" fmla="val 0"/>
            </a:avLst>
          </a:prstGeom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6C8C7E50-5671-A8C5-163F-2D2EB2B9416C}"/>
              </a:ext>
            </a:extLst>
          </p:cNvPr>
          <p:cNvSpPr/>
          <p:nvPr/>
        </p:nvSpPr>
        <p:spPr>
          <a:xfrm>
            <a:off x="5219026" y="3085744"/>
            <a:ext cx="1965708" cy="1746372"/>
          </a:xfrm>
          <a:prstGeom prst="arc">
            <a:avLst>
              <a:gd name="adj1" fmla="val 16455465"/>
              <a:gd name="adj2" fmla="val 0"/>
            </a:avLst>
          </a:prstGeom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5C81022-F4E4-928F-95C2-DF8EF6B323F3}"/>
              </a:ext>
            </a:extLst>
          </p:cNvPr>
          <p:cNvSpPr txBox="1"/>
          <p:nvPr/>
        </p:nvSpPr>
        <p:spPr>
          <a:xfrm>
            <a:off x="8180710" y="1270660"/>
            <a:ext cx="3894138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Discreet Action Space:</a:t>
            </a:r>
          </a:p>
          <a:p>
            <a:endParaRPr lang="en-US" noProof="0" dirty="0"/>
          </a:p>
          <a:p>
            <a:r>
              <a:rPr lang="en-US" dirty="0"/>
              <a:t>Left Rudder:</a:t>
            </a:r>
          </a:p>
          <a:p>
            <a:pPr marL="285750" indent="-285750">
              <a:buFontTx/>
              <a:buChar char="-"/>
            </a:pPr>
            <a:r>
              <a:rPr lang="en-US" dirty="0"/>
              <a:t>Forward</a:t>
            </a:r>
          </a:p>
          <a:p>
            <a:pPr marL="285750" indent="-285750">
              <a:buFontTx/>
              <a:buChar char="-"/>
            </a:pPr>
            <a:r>
              <a:rPr lang="en-US" dirty="0"/>
              <a:t>Backward</a:t>
            </a:r>
          </a:p>
          <a:p>
            <a:pPr marL="285750" indent="-285750">
              <a:buFontTx/>
              <a:buChar char="-"/>
            </a:pPr>
            <a:r>
              <a:rPr lang="en-US" dirty="0"/>
              <a:t>Idle</a:t>
            </a:r>
          </a:p>
          <a:p>
            <a:r>
              <a:rPr lang="en-US" dirty="0"/>
              <a:t>Right Rudder:</a:t>
            </a:r>
          </a:p>
          <a:p>
            <a:pPr marL="285750" indent="-285750">
              <a:buFontTx/>
              <a:buChar char="-"/>
            </a:pPr>
            <a:r>
              <a:rPr lang="en-US" dirty="0"/>
              <a:t>Forward</a:t>
            </a:r>
          </a:p>
          <a:p>
            <a:pPr marL="285750" indent="-285750">
              <a:buFontTx/>
              <a:buChar char="-"/>
            </a:pPr>
            <a:r>
              <a:rPr lang="en-US" dirty="0"/>
              <a:t>Backward</a:t>
            </a:r>
          </a:p>
          <a:p>
            <a:pPr marL="285750" indent="-285750">
              <a:buFontTx/>
              <a:buChar char="-"/>
            </a:pPr>
            <a:r>
              <a:rPr lang="en-US" dirty="0"/>
              <a:t>Idle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In total 3² = 9 Actions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ym typeface="Wingdings" panose="05000000000000000000" pitchFamily="2" charset="2"/>
              </a:rPr>
              <a:t>Forward motion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ym typeface="Wingdings" panose="05000000000000000000" pitchFamily="2" charset="2"/>
              </a:rPr>
              <a:t>Backward motion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ym typeface="Wingdings" panose="05000000000000000000" pitchFamily="2" charset="2"/>
              </a:rPr>
              <a:t>Clockwise rotation </a:t>
            </a:r>
          </a:p>
          <a:p>
            <a:pPr marL="285750" indent="-285750">
              <a:buFontTx/>
              <a:buChar char="-"/>
            </a:pPr>
            <a:r>
              <a:rPr lang="en-US" dirty="0">
                <a:sym typeface="Wingdings" panose="05000000000000000000" pitchFamily="2" charset="2"/>
              </a:rPr>
              <a:t>Counterclockwise rotation</a:t>
            </a:r>
          </a:p>
          <a:p>
            <a:r>
              <a:rPr lang="en-US" dirty="0"/>
              <a:t>(all in slow and fast version)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87227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4F1AD-E5F5-E21A-B09D-B4C7BA877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CC7BE2-8A58-D57E-4555-5A25A895E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rowing boat – State Space</a:t>
            </a:r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F13381E9-F102-4CB1-8A36-B427AA2DCF56}"/>
              </a:ext>
            </a:extLst>
          </p:cNvPr>
          <p:cNvSpPr/>
          <p:nvPr/>
        </p:nvSpPr>
        <p:spPr>
          <a:xfrm>
            <a:off x="4257297" y="1459201"/>
            <a:ext cx="1270660" cy="1325563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09F58AD-4231-04EC-E9A3-11A581A267A7}"/>
              </a:ext>
            </a:extLst>
          </p:cNvPr>
          <p:cNvSpPr/>
          <p:nvPr/>
        </p:nvSpPr>
        <p:spPr>
          <a:xfrm>
            <a:off x="4257297" y="2784764"/>
            <a:ext cx="1270660" cy="295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A5F90AE-3B5E-0128-1074-11055A57806C}"/>
              </a:ext>
            </a:extLst>
          </p:cNvPr>
          <p:cNvSpPr/>
          <p:nvPr/>
        </p:nvSpPr>
        <p:spPr>
          <a:xfrm rot="20243857">
            <a:off x="2291930" y="3902018"/>
            <a:ext cx="2529444" cy="33999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3CF0D28-DCF8-3CDE-584E-55B52EF230FE}"/>
              </a:ext>
            </a:extLst>
          </p:cNvPr>
          <p:cNvSpPr/>
          <p:nvPr/>
        </p:nvSpPr>
        <p:spPr>
          <a:xfrm rot="1432450">
            <a:off x="4971489" y="3926324"/>
            <a:ext cx="2529444" cy="33999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141D618-8BBF-CA2D-391E-DD0829EA8D21}"/>
              </a:ext>
            </a:extLst>
          </p:cNvPr>
          <p:cNvSpPr/>
          <p:nvPr/>
        </p:nvSpPr>
        <p:spPr>
          <a:xfrm rot="20186922" flipV="1">
            <a:off x="1902157" y="4543897"/>
            <a:ext cx="843149" cy="102577"/>
          </a:xfrm>
          <a:prstGeom prst="rect">
            <a:avLst/>
          </a:prstGeom>
          <a:solidFill>
            <a:srgbClr val="663300"/>
          </a:solidFill>
          <a:ln>
            <a:solidFill>
              <a:srgbClr val="66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DD84CFC-C3DF-1CD7-57DC-C5B14A11EA5E}"/>
              </a:ext>
            </a:extLst>
          </p:cNvPr>
          <p:cNvSpPr/>
          <p:nvPr/>
        </p:nvSpPr>
        <p:spPr>
          <a:xfrm rot="1476275" flipV="1">
            <a:off x="6953129" y="4574110"/>
            <a:ext cx="843149" cy="102577"/>
          </a:xfrm>
          <a:prstGeom prst="rect">
            <a:avLst/>
          </a:prstGeom>
          <a:solidFill>
            <a:srgbClr val="663300"/>
          </a:solidFill>
          <a:ln>
            <a:solidFill>
              <a:srgbClr val="66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C447AF3E-395A-BF8B-7475-1C1E5BC91A2D}"/>
              </a:ext>
            </a:extLst>
          </p:cNvPr>
          <p:cNvSpPr/>
          <p:nvPr/>
        </p:nvSpPr>
        <p:spPr>
          <a:xfrm>
            <a:off x="4776330" y="3980535"/>
            <a:ext cx="232593" cy="231569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A808CD5C-CCF5-BE66-F6AF-37E3C9932436}"/>
              </a:ext>
            </a:extLst>
          </p:cNvPr>
          <p:cNvSpPr txBox="1"/>
          <p:nvPr/>
        </p:nvSpPr>
        <p:spPr>
          <a:xfrm>
            <a:off x="8180710" y="1270660"/>
            <a:ext cx="389413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Continuous State Space, 6D:</a:t>
            </a:r>
          </a:p>
          <a:p>
            <a:endParaRPr lang="en-US" noProof="0" dirty="0"/>
          </a:p>
          <a:p>
            <a:r>
              <a:rPr lang="en-US" dirty="0"/>
              <a:t>Position:</a:t>
            </a:r>
          </a:p>
          <a:p>
            <a:pPr marL="285750" indent="-285750">
              <a:buFontTx/>
              <a:buChar char="-"/>
            </a:pPr>
            <a:r>
              <a:rPr lang="en-US" dirty="0"/>
              <a:t>X</a:t>
            </a:r>
          </a:p>
          <a:p>
            <a:pPr marL="285750" indent="-285750">
              <a:buFontTx/>
              <a:buChar char="-"/>
            </a:pPr>
            <a:r>
              <a:rPr lang="en-US" dirty="0"/>
              <a:t>Y</a:t>
            </a:r>
          </a:p>
          <a:p>
            <a:pPr marL="285750" indent="-285750">
              <a:buFontTx/>
              <a:buChar char="-"/>
            </a:pPr>
            <a:r>
              <a:rPr lang="en-US" dirty="0"/>
              <a:t>Theta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dirty="0"/>
              <a:t>Velocities:</a:t>
            </a:r>
          </a:p>
          <a:p>
            <a:pPr marL="285750" indent="-285750">
              <a:buFontTx/>
              <a:buChar char="-"/>
            </a:pPr>
            <a:r>
              <a:rPr lang="en-US" dirty="0"/>
              <a:t>V_X</a:t>
            </a:r>
          </a:p>
          <a:p>
            <a:pPr marL="285750" indent="-285750">
              <a:buFontTx/>
              <a:buChar char="-"/>
            </a:pPr>
            <a:r>
              <a:rPr lang="en-US" dirty="0"/>
              <a:t>V_Y</a:t>
            </a:r>
          </a:p>
          <a:p>
            <a:pPr marL="285750" indent="-285750">
              <a:buFontTx/>
              <a:buChar char="-"/>
            </a:pPr>
            <a:r>
              <a:rPr lang="en-US" dirty="0"/>
              <a:t>Omega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4" name="Pfeil: nach unten 13">
            <a:extLst>
              <a:ext uri="{FF2B5EF4-FFF2-40B4-BE49-F238E27FC236}">
                <a16:creationId xmlns:a16="http://schemas.microsoft.com/office/drawing/2014/main" id="{55BE2608-FD81-E266-550B-2949336962FA}"/>
              </a:ext>
            </a:extLst>
          </p:cNvPr>
          <p:cNvSpPr/>
          <p:nvPr/>
        </p:nvSpPr>
        <p:spPr>
          <a:xfrm rot="10800000">
            <a:off x="4727427" y="1261086"/>
            <a:ext cx="330397" cy="122667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Pfeil: nach unten 15">
            <a:extLst>
              <a:ext uri="{FF2B5EF4-FFF2-40B4-BE49-F238E27FC236}">
                <a16:creationId xmlns:a16="http://schemas.microsoft.com/office/drawing/2014/main" id="{A5273E7B-6161-EF96-7EE7-79FF9AE3B3CF}"/>
              </a:ext>
            </a:extLst>
          </p:cNvPr>
          <p:cNvSpPr/>
          <p:nvPr/>
        </p:nvSpPr>
        <p:spPr>
          <a:xfrm rot="16200000">
            <a:off x="5449657" y="3482982"/>
            <a:ext cx="187036" cy="122667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Pfeil: nach unten 16">
            <a:extLst>
              <a:ext uri="{FF2B5EF4-FFF2-40B4-BE49-F238E27FC236}">
                <a16:creationId xmlns:a16="http://schemas.microsoft.com/office/drawing/2014/main" id="{99893A67-7471-05D1-952D-507A69BFF430}"/>
              </a:ext>
            </a:extLst>
          </p:cNvPr>
          <p:cNvSpPr/>
          <p:nvPr/>
        </p:nvSpPr>
        <p:spPr>
          <a:xfrm rot="10800000">
            <a:off x="4796213" y="2908724"/>
            <a:ext cx="192823" cy="122667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464314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81145-90DC-4B0F-AFBB-8D8E2A959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AD7729-CA24-3B70-3511-88AFFABB8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rowing boat - Dynamics</a:t>
            </a:r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1E4871F4-66B6-AFB6-7684-CBCAFEE372AB}"/>
              </a:ext>
            </a:extLst>
          </p:cNvPr>
          <p:cNvSpPr/>
          <p:nvPr/>
        </p:nvSpPr>
        <p:spPr>
          <a:xfrm>
            <a:off x="4257297" y="1459201"/>
            <a:ext cx="1270660" cy="1325563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C2EBC61-C8DC-74B9-948B-81721D1FAF00}"/>
              </a:ext>
            </a:extLst>
          </p:cNvPr>
          <p:cNvSpPr/>
          <p:nvPr/>
        </p:nvSpPr>
        <p:spPr>
          <a:xfrm>
            <a:off x="4257297" y="2784764"/>
            <a:ext cx="1270660" cy="295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34F99D1-8350-B30A-E781-8072C53ED28F}"/>
              </a:ext>
            </a:extLst>
          </p:cNvPr>
          <p:cNvSpPr/>
          <p:nvPr/>
        </p:nvSpPr>
        <p:spPr>
          <a:xfrm rot="20243857">
            <a:off x="2291930" y="3902018"/>
            <a:ext cx="2529444" cy="33999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B9AD244-1D86-B4D0-CDF7-055F46B4F5E5}"/>
              </a:ext>
            </a:extLst>
          </p:cNvPr>
          <p:cNvSpPr/>
          <p:nvPr/>
        </p:nvSpPr>
        <p:spPr>
          <a:xfrm rot="1432450">
            <a:off x="4971489" y="3926324"/>
            <a:ext cx="2529444" cy="33999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AB6DA8A-417F-A5F6-F92C-1E2163DC2087}"/>
              </a:ext>
            </a:extLst>
          </p:cNvPr>
          <p:cNvSpPr/>
          <p:nvPr/>
        </p:nvSpPr>
        <p:spPr>
          <a:xfrm rot="20186922" flipV="1">
            <a:off x="1902157" y="4543897"/>
            <a:ext cx="843149" cy="102577"/>
          </a:xfrm>
          <a:prstGeom prst="rect">
            <a:avLst/>
          </a:prstGeom>
          <a:solidFill>
            <a:srgbClr val="663300"/>
          </a:solidFill>
          <a:ln>
            <a:solidFill>
              <a:srgbClr val="66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E458883-E591-C317-EEBB-8EBD9A355699}"/>
              </a:ext>
            </a:extLst>
          </p:cNvPr>
          <p:cNvSpPr/>
          <p:nvPr/>
        </p:nvSpPr>
        <p:spPr>
          <a:xfrm rot="1476275" flipV="1">
            <a:off x="6953129" y="4574110"/>
            <a:ext cx="843149" cy="102577"/>
          </a:xfrm>
          <a:prstGeom prst="rect">
            <a:avLst/>
          </a:prstGeom>
          <a:solidFill>
            <a:srgbClr val="663300"/>
          </a:solidFill>
          <a:ln>
            <a:solidFill>
              <a:srgbClr val="66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Pfeil: nach unten 9">
            <a:extLst>
              <a:ext uri="{FF2B5EF4-FFF2-40B4-BE49-F238E27FC236}">
                <a16:creationId xmlns:a16="http://schemas.microsoft.com/office/drawing/2014/main" id="{6509B3F4-8CE6-D4D4-996E-3A309F19A0E5}"/>
              </a:ext>
            </a:extLst>
          </p:cNvPr>
          <p:cNvSpPr/>
          <p:nvPr/>
        </p:nvSpPr>
        <p:spPr>
          <a:xfrm>
            <a:off x="2323731" y="4847555"/>
            <a:ext cx="330397" cy="122667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Pfeil: nach unten 10">
            <a:extLst>
              <a:ext uri="{FF2B5EF4-FFF2-40B4-BE49-F238E27FC236}">
                <a16:creationId xmlns:a16="http://schemas.microsoft.com/office/drawing/2014/main" id="{B19808A9-80AE-C693-31E7-B1084F07E892}"/>
              </a:ext>
            </a:extLst>
          </p:cNvPr>
          <p:cNvSpPr/>
          <p:nvPr/>
        </p:nvSpPr>
        <p:spPr>
          <a:xfrm>
            <a:off x="7131126" y="4847555"/>
            <a:ext cx="330397" cy="122667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0DFB9919-0544-7D1A-4FCF-A5F83E812F74}"/>
              </a:ext>
            </a:extLst>
          </p:cNvPr>
          <p:cNvSpPr/>
          <p:nvPr/>
        </p:nvSpPr>
        <p:spPr>
          <a:xfrm>
            <a:off x="4776330" y="3980535"/>
            <a:ext cx="232593" cy="231569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D0B40D73-4739-4E4A-8445-9617F577C994}"/>
              </a:ext>
            </a:extLst>
          </p:cNvPr>
          <p:cNvSpPr/>
          <p:nvPr/>
        </p:nvSpPr>
        <p:spPr>
          <a:xfrm rot="16200000">
            <a:off x="5926336" y="4229950"/>
            <a:ext cx="326786" cy="2450622"/>
          </a:xfrm>
          <a:prstGeom prst="leftBrac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06829DD-AFE2-5B0A-8293-1C8FC7766B4B}"/>
              </a:ext>
            </a:extLst>
          </p:cNvPr>
          <p:cNvSpPr txBox="1"/>
          <p:nvPr/>
        </p:nvSpPr>
        <p:spPr>
          <a:xfrm>
            <a:off x="5640771" y="5693634"/>
            <a:ext cx="1122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lever arm</a:t>
            </a:r>
          </a:p>
        </p:txBody>
      </p:sp>
      <p:sp>
        <p:nvSpPr>
          <p:cNvPr id="18" name="Bogen 17">
            <a:extLst>
              <a:ext uri="{FF2B5EF4-FFF2-40B4-BE49-F238E27FC236}">
                <a16:creationId xmlns:a16="http://schemas.microsoft.com/office/drawing/2014/main" id="{691D2D8E-E839-F31C-387C-5A709FCC91D0}"/>
              </a:ext>
            </a:extLst>
          </p:cNvPr>
          <p:cNvSpPr/>
          <p:nvPr/>
        </p:nvSpPr>
        <p:spPr>
          <a:xfrm flipH="1">
            <a:off x="2371269" y="3082731"/>
            <a:ext cx="1965708" cy="1746372"/>
          </a:xfrm>
          <a:prstGeom prst="arc">
            <a:avLst>
              <a:gd name="adj1" fmla="val 16455465"/>
              <a:gd name="adj2" fmla="val 0"/>
            </a:avLst>
          </a:prstGeom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42AEA7AD-C838-E8B1-6591-286E0477C2CC}"/>
              </a:ext>
            </a:extLst>
          </p:cNvPr>
          <p:cNvSpPr/>
          <p:nvPr/>
        </p:nvSpPr>
        <p:spPr>
          <a:xfrm>
            <a:off x="5219026" y="3085744"/>
            <a:ext cx="1965708" cy="1746372"/>
          </a:xfrm>
          <a:prstGeom prst="arc">
            <a:avLst>
              <a:gd name="adj1" fmla="val 16455465"/>
              <a:gd name="adj2" fmla="val 0"/>
            </a:avLst>
          </a:prstGeom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D4CDB93-9009-8C22-D2B6-44CDAED2E951}"/>
              </a:ext>
            </a:extLst>
          </p:cNvPr>
          <p:cNvSpPr txBox="1"/>
          <p:nvPr/>
        </p:nvSpPr>
        <p:spPr>
          <a:xfrm>
            <a:off x="8180710" y="1270660"/>
            <a:ext cx="389413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Forward/Backward Linear Motion:</a:t>
            </a:r>
          </a:p>
          <a:p>
            <a:pPr marL="285750" indent="-285750">
              <a:buFontTx/>
              <a:buChar char="-"/>
            </a:pPr>
            <a:r>
              <a:rPr lang="en-US" dirty="0"/>
              <a:t>Sum of forces leads to motion in current facing direction (force = mass * acceleration)</a:t>
            </a:r>
          </a:p>
          <a:p>
            <a:pPr marL="285750" indent="-285750">
              <a:buFontTx/>
              <a:buChar char="-"/>
            </a:pPr>
            <a:r>
              <a:rPr lang="en-US" dirty="0"/>
              <a:t>Friction force slowing the boat</a:t>
            </a:r>
          </a:p>
          <a:p>
            <a:endParaRPr lang="en-US" dirty="0"/>
          </a:p>
          <a:p>
            <a:r>
              <a:rPr lang="en-US" dirty="0"/>
              <a:t>Rotational Motion:</a:t>
            </a:r>
          </a:p>
          <a:p>
            <a:pPr marL="285750" indent="-285750">
              <a:buFontTx/>
              <a:buChar char="-"/>
            </a:pPr>
            <a:r>
              <a:rPr lang="en-US" dirty="0"/>
              <a:t>Sum of torques (force * lever arm)</a:t>
            </a:r>
          </a:p>
          <a:p>
            <a:pPr marL="285750" indent="-285750">
              <a:buFontTx/>
              <a:buChar char="-"/>
            </a:pPr>
            <a:r>
              <a:rPr lang="en-US" dirty="0"/>
              <a:t>Rotational friction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38870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8725DFFA-073F-442A-480A-536E141E2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0"/>
            <a:ext cx="6858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E43FDDE-04FC-C3D2-A5BF-C697CF40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Task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3C9BFBC-A521-AF79-FC08-E8990ECFAE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398" y="2055813"/>
            <a:ext cx="4000907" cy="2850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8753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D07229-7B1A-B8C1-F007-468E1F91D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Algorithm</a:t>
            </a: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6C2240C7-5D62-A71D-E766-E14741F3D5A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561605" cy="15616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95D2482-6439-1362-7F0A-DE795EE4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506620"/>
            <a:ext cx="7897091" cy="4822161"/>
          </a:xfrm>
          <a:prstGeom prst="rect">
            <a:avLst/>
          </a:prstGeom>
        </p:spPr>
      </p:pic>
      <p:sp>
        <p:nvSpPr>
          <p:cNvPr id="9" name="Rahmen 8">
            <a:extLst>
              <a:ext uri="{FF2B5EF4-FFF2-40B4-BE49-F238E27FC236}">
                <a16:creationId xmlns:a16="http://schemas.microsoft.com/office/drawing/2014/main" id="{51234A4F-3572-BB70-7812-1207628349C0}"/>
              </a:ext>
            </a:extLst>
          </p:cNvPr>
          <p:cNvSpPr/>
          <p:nvPr/>
        </p:nvSpPr>
        <p:spPr>
          <a:xfrm>
            <a:off x="5296395" y="3222605"/>
            <a:ext cx="4304805" cy="1765032"/>
          </a:xfrm>
          <a:prstGeom prst="frame">
            <a:avLst>
              <a:gd name="adj1" fmla="val 276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94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</Words>
  <Application>Microsoft Office PowerPoint</Application>
  <PresentationFormat>Breitbild</PresentationFormat>
  <Paragraphs>52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Wingdings</vt:lpstr>
      <vt:lpstr>Office</vt:lpstr>
      <vt:lpstr>Escaping Venice</vt:lpstr>
      <vt:lpstr>PowerPoint-Präsentation</vt:lpstr>
      <vt:lpstr>The rowing boat – Action Space</vt:lpstr>
      <vt:lpstr>The rowing boat – State Space</vt:lpstr>
      <vt:lpstr>The rowing boat - Dynamics</vt:lpstr>
      <vt:lpstr>The Task</vt:lpstr>
      <vt:lpstr>The Algorithm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Benjamin Knöbel</dc:creator>
  <cp:lastModifiedBy>Benjamin Knöbel</cp:lastModifiedBy>
  <cp:revision>4</cp:revision>
  <dcterms:created xsi:type="dcterms:W3CDTF">2025-11-26T18:53:09Z</dcterms:created>
  <dcterms:modified xsi:type="dcterms:W3CDTF">2025-11-26T19:40:02Z</dcterms:modified>
</cp:coreProperties>
</file>