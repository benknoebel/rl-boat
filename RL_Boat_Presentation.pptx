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60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5A490-E541-7F0B-C410-315E90B9A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DBA37F-2EA0-F2C7-A5C5-399B98543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E39840-DACD-859A-F6B4-55211FC36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E8B15-E7DE-473C-CE22-F61C5A0E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AABE12-519B-BCDB-F8D8-AF839CA9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01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91412-EB7C-BF2D-F43C-82EE11E3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CD3F5A-FA99-78DD-C606-B1C8AC78B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5DF439-574B-8523-05ED-9313B37A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E7A99B-399F-3952-E132-B59A52FD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25407A-1D9F-E8F0-1CEF-9266C981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4390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7EEC09-3787-7C3F-42DB-F787EDA5D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A9D01-C70B-BD1A-7FC8-721E2A564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99DF4D-79DC-35F9-5943-9D1FDF0B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B50134-92FD-5BF6-6B80-8640355A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2063B1-5319-9775-1B1F-08F659B9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2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41A4D9-F9FE-3CE3-11CA-27F5B613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FE9071-689A-ED66-EAE7-AAA9C40D6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C7AF0A-5498-E1A4-D9E5-7AE7A6F15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2D674C-7C16-F330-6D4D-B7F8AB81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CDB585-AD2C-EAD7-4BA1-CA2F80CD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780A01-BDD2-1992-1975-40C49617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24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E6C33-9BF0-3991-2FE9-9424F6BD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196066-AE05-ABC4-C45C-ECC0A210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EE2461-F34B-4B6F-46C0-A127BF71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D141AA9-5C4A-09AB-B609-A8CB11F43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BC5E4AA-B4C4-C747-6B33-8363B2477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5A7104-0B75-EDCA-A025-087149F9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DBD74A8-1711-75E2-2678-617D9712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6F4039-3557-BE2D-8D94-DA226EB7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393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69E73-5B0F-2AAC-2AEF-A5CB2E56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53FF34-A8FC-D143-F862-2DFC2FF3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1E165E-C659-5335-466A-7B9D8E2F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85ADA0-ABF3-C374-A874-5B33E1E7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59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C147C8-F146-6F86-3558-59C2835D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29F11F-576B-809E-99A6-5578274E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0AE7F6-10CF-EE87-4235-1860BB24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516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06554D-D817-58D3-9F2D-A1FDB24D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5C9397-037A-75AB-B3A5-40EF690C2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3B923E-BD47-8E71-81C4-038BD19C1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1E9080-2680-806B-2E04-11D164CF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5967FF-5F97-1F13-28B3-C767C4A8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47D6F-A079-69DA-67DC-3070BC3B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472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BE7DD-A4A8-F070-615A-A250DD79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AA1FC6-5A41-DBD7-635F-CCA79EB5F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88892EE-E2C0-A3AA-B81E-C6097632E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6D9758-27A0-D8BE-E7B8-6F5CB6D7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72516B-9A09-E0EE-59DA-A7C209FF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216307-938E-20BC-6387-BB6FAA14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93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34E99-198C-3734-714A-1D066C1E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A3ADEE-0D68-54BE-0AF2-694E20E7D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16D612-1D0F-440D-A43A-AF625215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0394D5-1CF5-4575-08BF-B45AF5DC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63A07A-E2E4-C709-0C46-37190F99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6922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826ED40-8219-17AE-CDE6-E5D817636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03C833-48BB-592E-AC39-5EDA64F4C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46DF37-0CD2-3B9D-07ED-F1E3B23C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F435D3-AF2F-EA9D-FE62-8C73B988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E568A8-2D9A-CF9B-5135-A24562CF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6382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EF6F2B0-67E8-E773-959C-11AB07A0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E2A3E9-A4EE-9B5E-A15A-5821CD714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7C0A16-0B5F-33FF-E414-0DA177153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84FDC-7794-4BC9-B3A7-78477DF3E9AB}" type="datetimeFigureOut">
              <a:rPr lang="de-DE" smtClean="0"/>
              <a:t>26.11.2025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FABE1B-81DD-BBC8-AFBC-360E69511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04EBD8-9B9C-DCBE-8F9D-7ADAFA311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543A4-0D30-4E3F-8BF5-6B37164B85C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53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8C369-7282-A7F0-C068-390ABC47D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Escaping Venice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1A7FE0-9247-5920-F550-7A3085528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RL Path-Planning under constraints</a:t>
            </a:r>
          </a:p>
        </p:txBody>
      </p:sp>
    </p:spTree>
    <p:extLst>
      <p:ext uri="{BB962C8B-B14F-4D97-AF65-F5344CB8AC3E}">
        <p14:creationId xmlns:p14="http://schemas.microsoft.com/office/powerpoint/2010/main" val="280182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CFE23659-33AE-D2EE-428B-73E41FE91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22"/>
            <a:ext cx="12192000" cy="686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3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A2B193-A1CA-36FE-947B-C74C5236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rowing boat – Action Space</a:t>
            </a: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86BACEEA-5890-DFD7-1272-FE9090785147}"/>
              </a:ext>
            </a:extLst>
          </p:cNvPr>
          <p:cNvSpPr/>
          <p:nvPr/>
        </p:nvSpPr>
        <p:spPr>
          <a:xfrm>
            <a:off x="4257297" y="1459201"/>
            <a:ext cx="1270660" cy="132556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44C2AA1-0D67-8A9F-0B5D-19C1356BE6FA}"/>
              </a:ext>
            </a:extLst>
          </p:cNvPr>
          <p:cNvSpPr/>
          <p:nvPr/>
        </p:nvSpPr>
        <p:spPr>
          <a:xfrm>
            <a:off x="4257297" y="2784764"/>
            <a:ext cx="1270660" cy="295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2F9A5D0-9292-6F4C-8574-EAF15EDC9E2A}"/>
              </a:ext>
            </a:extLst>
          </p:cNvPr>
          <p:cNvSpPr/>
          <p:nvPr/>
        </p:nvSpPr>
        <p:spPr>
          <a:xfrm rot="20243857">
            <a:off x="2291930" y="3902018"/>
            <a:ext cx="2529444" cy="3399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560D72F-E695-651C-6C4D-69454407408A}"/>
              </a:ext>
            </a:extLst>
          </p:cNvPr>
          <p:cNvSpPr/>
          <p:nvPr/>
        </p:nvSpPr>
        <p:spPr>
          <a:xfrm rot="1432450">
            <a:off x="4971489" y="3926324"/>
            <a:ext cx="2529444" cy="3399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1999B44-EDEC-4733-A375-26706E9522B0}"/>
              </a:ext>
            </a:extLst>
          </p:cNvPr>
          <p:cNvSpPr/>
          <p:nvPr/>
        </p:nvSpPr>
        <p:spPr>
          <a:xfrm rot="20186922" flipV="1">
            <a:off x="1902157" y="4543897"/>
            <a:ext cx="843149" cy="102577"/>
          </a:xfrm>
          <a:prstGeom prst="rect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A80C8B7-A9F9-522C-E8C7-8811F59E9360}"/>
              </a:ext>
            </a:extLst>
          </p:cNvPr>
          <p:cNvSpPr/>
          <p:nvPr/>
        </p:nvSpPr>
        <p:spPr>
          <a:xfrm rot="1476275" flipV="1">
            <a:off x="6953129" y="4574110"/>
            <a:ext cx="843149" cy="102577"/>
          </a:xfrm>
          <a:prstGeom prst="rect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Pfeil: nach unten 9">
            <a:extLst>
              <a:ext uri="{FF2B5EF4-FFF2-40B4-BE49-F238E27FC236}">
                <a16:creationId xmlns:a16="http://schemas.microsoft.com/office/drawing/2014/main" id="{C2C9EB74-FB2C-67BF-0D66-F4A4DEE6686F}"/>
              </a:ext>
            </a:extLst>
          </p:cNvPr>
          <p:cNvSpPr/>
          <p:nvPr/>
        </p:nvSpPr>
        <p:spPr>
          <a:xfrm>
            <a:off x="2323731" y="4847555"/>
            <a:ext cx="330397" cy="122667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7C45D82E-4CA0-2851-F1DA-68FB79D14E2E}"/>
              </a:ext>
            </a:extLst>
          </p:cNvPr>
          <p:cNvSpPr/>
          <p:nvPr/>
        </p:nvSpPr>
        <p:spPr>
          <a:xfrm>
            <a:off x="7131126" y="4847555"/>
            <a:ext cx="330397" cy="122667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9B8BC87-7D07-12D3-925B-800CE7AFBBCD}"/>
              </a:ext>
            </a:extLst>
          </p:cNvPr>
          <p:cNvSpPr/>
          <p:nvPr/>
        </p:nvSpPr>
        <p:spPr>
          <a:xfrm>
            <a:off x="4776330" y="3980535"/>
            <a:ext cx="232593" cy="2315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Bogen 17">
            <a:extLst>
              <a:ext uri="{FF2B5EF4-FFF2-40B4-BE49-F238E27FC236}">
                <a16:creationId xmlns:a16="http://schemas.microsoft.com/office/drawing/2014/main" id="{0AB7B4C3-CFDF-62BC-D9D5-15FE082B0AAA}"/>
              </a:ext>
            </a:extLst>
          </p:cNvPr>
          <p:cNvSpPr/>
          <p:nvPr/>
        </p:nvSpPr>
        <p:spPr>
          <a:xfrm flipH="1">
            <a:off x="2371269" y="3082731"/>
            <a:ext cx="1965708" cy="1746372"/>
          </a:xfrm>
          <a:prstGeom prst="arc">
            <a:avLst>
              <a:gd name="adj1" fmla="val 16455465"/>
              <a:gd name="adj2" fmla="val 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Bogen 18">
            <a:extLst>
              <a:ext uri="{FF2B5EF4-FFF2-40B4-BE49-F238E27FC236}">
                <a16:creationId xmlns:a16="http://schemas.microsoft.com/office/drawing/2014/main" id="{6C8C7E50-5671-A8C5-163F-2D2EB2B9416C}"/>
              </a:ext>
            </a:extLst>
          </p:cNvPr>
          <p:cNvSpPr/>
          <p:nvPr/>
        </p:nvSpPr>
        <p:spPr>
          <a:xfrm>
            <a:off x="5219026" y="3085744"/>
            <a:ext cx="1965708" cy="1746372"/>
          </a:xfrm>
          <a:prstGeom prst="arc">
            <a:avLst>
              <a:gd name="adj1" fmla="val 16455465"/>
              <a:gd name="adj2" fmla="val 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5C81022-F4E4-928F-95C2-DF8EF6B323F3}"/>
              </a:ext>
            </a:extLst>
          </p:cNvPr>
          <p:cNvSpPr txBox="1"/>
          <p:nvPr/>
        </p:nvSpPr>
        <p:spPr>
          <a:xfrm>
            <a:off x="8180710" y="1270660"/>
            <a:ext cx="38941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Discreet Action Space:</a:t>
            </a:r>
          </a:p>
          <a:p>
            <a:endParaRPr lang="en-US" noProof="0" dirty="0"/>
          </a:p>
          <a:p>
            <a:r>
              <a:rPr lang="en-US" dirty="0"/>
              <a:t>Left Rudder: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Forward</a:t>
            </a:r>
          </a:p>
          <a:p>
            <a:pPr marL="285750" indent="-285750">
              <a:buFontTx/>
              <a:buChar char="-"/>
            </a:pPr>
            <a:r>
              <a:rPr lang="en-US" dirty="0"/>
              <a:t>Backward</a:t>
            </a:r>
          </a:p>
          <a:p>
            <a:pPr marL="285750" indent="-285750">
              <a:buFontTx/>
              <a:buChar char="-"/>
            </a:pPr>
            <a:r>
              <a:rPr lang="en-US" dirty="0"/>
              <a:t>Idle</a:t>
            </a:r>
          </a:p>
          <a:p>
            <a:r>
              <a:rPr lang="en-US" dirty="0"/>
              <a:t>Right Rudder: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Forward</a:t>
            </a:r>
          </a:p>
          <a:p>
            <a:pPr marL="285750" indent="-285750">
              <a:buFontTx/>
              <a:buChar char="-"/>
            </a:pPr>
            <a:r>
              <a:rPr lang="en-US" dirty="0"/>
              <a:t>Backward</a:t>
            </a:r>
          </a:p>
          <a:p>
            <a:pPr marL="285750" indent="-285750">
              <a:buFontTx/>
              <a:buChar char="-"/>
            </a:pPr>
            <a:r>
              <a:rPr lang="en-US" dirty="0"/>
              <a:t>Idle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 total 3² = 9 Actions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Forward motion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Backward motion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Clockwise rotation </a:t>
            </a:r>
          </a:p>
          <a:p>
            <a:pPr marL="285750" indent="-285750"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Counterclockwise rotation</a:t>
            </a:r>
          </a:p>
          <a:p>
            <a:r>
              <a:rPr lang="en-US" dirty="0"/>
              <a:t>(all in slow and fast version)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722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F1AD-E5F5-E21A-B09D-B4C7BA877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C7BE2-8A58-D57E-4555-5A25A895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rowing boat – State Space</a:t>
            </a: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F13381E9-F102-4CB1-8A36-B427AA2DCF56}"/>
              </a:ext>
            </a:extLst>
          </p:cNvPr>
          <p:cNvSpPr/>
          <p:nvPr/>
        </p:nvSpPr>
        <p:spPr>
          <a:xfrm>
            <a:off x="4257297" y="1459201"/>
            <a:ext cx="1270660" cy="132556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09F58AD-4231-04EC-E9A3-11A581A267A7}"/>
              </a:ext>
            </a:extLst>
          </p:cNvPr>
          <p:cNvSpPr/>
          <p:nvPr/>
        </p:nvSpPr>
        <p:spPr>
          <a:xfrm>
            <a:off x="4257297" y="2784764"/>
            <a:ext cx="1270660" cy="295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A5F90AE-3B5E-0128-1074-11055A57806C}"/>
              </a:ext>
            </a:extLst>
          </p:cNvPr>
          <p:cNvSpPr/>
          <p:nvPr/>
        </p:nvSpPr>
        <p:spPr>
          <a:xfrm rot="20243857">
            <a:off x="2291930" y="3902018"/>
            <a:ext cx="2529444" cy="3399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CF0D28-DCF8-3CDE-584E-55B52EF230FE}"/>
              </a:ext>
            </a:extLst>
          </p:cNvPr>
          <p:cNvSpPr/>
          <p:nvPr/>
        </p:nvSpPr>
        <p:spPr>
          <a:xfrm rot="1432450">
            <a:off x="4971489" y="3926324"/>
            <a:ext cx="2529444" cy="3399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141D618-8BBF-CA2D-391E-DD0829EA8D21}"/>
              </a:ext>
            </a:extLst>
          </p:cNvPr>
          <p:cNvSpPr/>
          <p:nvPr/>
        </p:nvSpPr>
        <p:spPr>
          <a:xfrm rot="20186922" flipV="1">
            <a:off x="1902157" y="4543897"/>
            <a:ext cx="843149" cy="102577"/>
          </a:xfrm>
          <a:prstGeom prst="rect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DD84CFC-C3DF-1CD7-57DC-C5B14A11EA5E}"/>
              </a:ext>
            </a:extLst>
          </p:cNvPr>
          <p:cNvSpPr/>
          <p:nvPr/>
        </p:nvSpPr>
        <p:spPr>
          <a:xfrm rot="1476275" flipV="1">
            <a:off x="6953129" y="4574110"/>
            <a:ext cx="843149" cy="102577"/>
          </a:xfrm>
          <a:prstGeom prst="rect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Pfeil: nach unten 9">
            <a:extLst>
              <a:ext uri="{FF2B5EF4-FFF2-40B4-BE49-F238E27FC236}">
                <a16:creationId xmlns:a16="http://schemas.microsoft.com/office/drawing/2014/main" id="{4F55DC2B-8545-786F-1658-4AE7737297F0}"/>
              </a:ext>
            </a:extLst>
          </p:cNvPr>
          <p:cNvSpPr/>
          <p:nvPr/>
        </p:nvSpPr>
        <p:spPr>
          <a:xfrm>
            <a:off x="2323731" y="4847555"/>
            <a:ext cx="330397" cy="122667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99C1C43A-490F-0165-E7C0-19D089B39F4C}"/>
              </a:ext>
            </a:extLst>
          </p:cNvPr>
          <p:cNvSpPr/>
          <p:nvPr/>
        </p:nvSpPr>
        <p:spPr>
          <a:xfrm>
            <a:off x="7131126" y="4847555"/>
            <a:ext cx="330397" cy="122667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C447AF3E-395A-BF8B-7475-1C1E5BC91A2D}"/>
              </a:ext>
            </a:extLst>
          </p:cNvPr>
          <p:cNvSpPr/>
          <p:nvPr/>
        </p:nvSpPr>
        <p:spPr>
          <a:xfrm>
            <a:off x="4776330" y="3980535"/>
            <a:ext cx="232593" cy="2315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Bogen 17">
            <a:extLst>
              <a:ext uri="{FF2B5EF4-FFF2-40B4-BE49-F238E27FC236}">
                <a16:creationId xmlns:a16="http://schemas.microsoft.com/office/drawing/2014/main" id="{FC69B6B1-2912-5867-4321-11FF0CBC84BB}"/>
              </a:ext>
            </a:extLst>
          </p:cNvPr>
          <p:cNvSpPr/>
          <p:nvPr/>
        </p:nvSpPr>
        <p:spPr>
          <a:xfrm flipH="1">
            <a:off x="2371269" y="3082731"/>
            <a:ext cx="1965708" cy="1746372"/>
          </a:xfrm>
          <a:prstGeom prst="arc">
            <a:avLst>
              <a:gd name="adj1" fmla="val 16455465"/>
              <a:gd name="adj2" fmla="val 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Bogen 18">
            <a:extLst>
              <a:ext uri="{FF2B5EF4-FFF2-40B4-BE49-F238E27FC236}">
                <a16:creationId xmlns:a16="http://schemas.microsoft.com/office/drawing/2014/main" id="{6A66C6DB-F3CB-7FCD-0025-40A38C91EC61}"/>
              </a:ext>
            </a:extLst>
          </p:cNvPr>
          <p:cNvSpPr/>
          <p:nvPr/>
        </p:nvSpPr>
        <p:spPr>
          <a:xfrm>
            <a:off x="5219026" y="3085744"/>
            <a:ext cx="1965708" cy="1746372"/>
          </a:xfrm>
          <a:prstGeom prst="arc">
            <a:avLst>
              <a:gd name="adj1" fmla="val 16455465"/>
              <a:gd name="adj2" fmla="val 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808CD5C-CCF5-BE66-F6AF-37E3C9932436}"/>
              </a:ext>
            </a:extLst>
          </p:cNvPr>
          <p:cNvSpPr txBox="1"/>
          <p:nvPr/>
        </p:nvSpPr>
        <p:spPr>
          <a:xfrm>
            <a:off x="8180710" y="1270660"/>
            <a:ext cx="38941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Continuous State Space, 6D:</a:t>
            </a:r>
          </a:p>
          <a:p>
            <a:endParaRPr lang="en-US" noProof="0" dirty="0"/>
          </a:p>
          <a:p>
            <a:r>
              <a:rPr lang="en-US" dirty="0"/>
              <a:t>Position: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X</a:t>
            </a:r>
          </a:p>
          <a:p>
            <a:pPr marL="285750" indent="-285750">
              <a:buFontTx/>
              <a:buChar char="-"/>
            </a:pPr>
            <a:r>
              <a:rPr lang="en-US" dirty="0"/>
              <a:t>Y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Theta</a:t>
            </a:r>
          </a:p>
          <a:p>
            <a:r>
              <a:rPr lang="en-US" dirty="0" err="1"/>
              <a:t>Velocitiy</a:t>
            </a:r>
            <a:r>
              <a:rPr lang="en-US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/>
              <a:t>V_X</a:t>
            </a:r>
          </a:p>
          <a:p>
            <a:pPr marL="285750" indent="-285750">
              <a:buFontTx/>
              <a:buChar char="-"/>
            </a:pPr>
            <a:r>
              <a:rPr lang="en-US" dirty="0"/>
              <a:t>V_Y</a:t>
            </a:r>
          </a:p>
          <a:p>
            <a:pPr marL="285750" indent="-285750">
              <a:buFontTx/>
              <a:buChar char="-"/>
            </a:pPr>
            <a:r>
              <a:rPr lang="en-US" dirty="0"/>
              <a:t>omega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In total 3² = 9 Actions</a:t>
            </a:r>
          </a:p>
          <a:p>
            <a:endParaRPr lang="en-US" dirty="0"/>
          </a:p>
          <a:p>
            <a:endParaRPr lang="en-US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643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1145-90DC-4B0F-AFBB-8D8E2A959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AD7729-CA24-3B70-3511-88AFFABB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rowing boat - Dynamics</a:t>
            </a: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1E4871F4-66B6-AFB6-7684-CBCAFEE372AB}"/>
              </a:ext>
            </a:extLst>
          </p:cNvPr>
          <p:cNvSpPr/>
          <p:nvPr/>
        </p:nvSpPr>
        <p:spPr>
          <a:xfrm>
            <a:off x="4257297" y="1459201"/>
            <a:ext cx="1270660" cy="132556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C2EBC61-C8DC-74B9-948B-81721D1FAF00}"/>
              </a:ext>
            </a:extLst>
          </p:cNvPr>
          <p:cNvSpPr/>
          <p:nvPr/>
        </p:nvSpPr>
        <p:spPr>
          <a:xfrm>
            <a:off x="4257297" y="2784764"/>
            <a:ext cx="1270660" cy="295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34F99D1-8350-B30A-E781-8072C53ED28F}"/>
              </a:ext>
            </a:extLst>
          </p:cNvPr>
          <p:cNvSpPr/>
          <p:nvPr/>
        </p:nvSpPr>
        <p:spPr>
          <a:xfrm rot="20243857">
            <a:off x="2291930" y="3902018"/>
            <a:ext cx="2529444" cy="3399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B9AD244-1D86-B4D0-CDF7-055F46B4F5E5}"/>
              </a:ext>
            </a:extLst>
          </p:cNvPr>
          <p:cNvSpPr/>
          <p:nvPr/>
        </p:nvSpPr>
        <p:spPr>
          <a:xfrm rot="1432450">
            <a:off x="4971489" y="3926324"/>
            <a:ext cx="2529444" cy="3399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AB6DA8A-417F-A5F6-F92C-1E2163DC2087}"/>
              </a:ext>
            </a:extLst>
          </p:cNvPr>
          <p:cNvSpPr/>
          <p:nvPr/>
        </p:nvSpPr>
        <p:spPr>
          <a:xfrm rot="20186922" flipV="1">
            <a:off x="1902157" y="4543897"/>
            <a:ext cx="843149" cy="102577"/>
          </a:xfrm>
          <a:prstGeom prst="rect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E458883-E591-C317-EEBB-8EBD9A355699}"/>
              </a:ext>
            </a:extLst>
          </p:cNvPr>
          <p:cNvSpPr/>
          <p:nvPr/>
        </p:nvSpPr>
        <p:spPr>
          <a:xfrm rot="1476275" flipV="1">
            <a:off x="6953129" y="4574110"/>
            <a:ext cx="843149" cy="102577"/>
          </a:xfrm>
          <a:prstGeom prst="rect">
            <a:avLst/>
          </a:prstGeom>
          <a:solidFill>
            <a:srgbClr val="663300"/>
          </a:solidFill>
          <a:ln>
            <a:solidFill>
              <a:srgbClr val="66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Pfeil: nach unten 9">
            <a:extLst>
              <a:ext uri="{FF2B5EF4-FFF2-40B4-BE49-F238E27FC236}">
                <a16:creationId xmlns:a16="http://schemas.microsoft.com/office/drawing/2014/main" id="{6509B3F4-8CE6-D4D4-996E-3A309F19A0E5}"/>
              </a:ext>
            </a:extLst>
          </p:cNvPr>
          <p:cNvSpPr/>
          <p:nvPr/>
        </p:nvSpPr>
        <p:spPr>
          <a:xfrm>
            <a:off x="2323731" y="4847555"/>
            <a:ext cx="330397" cy="122667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B19808A9-80AE-C693-31E7-B1084F07E892}"/>
              </a:ext>
            </a:extLst>
          </p:cNvPr>
          <p:cNvSpPr/>
          <p:nvPr/>
        </p:nvSpPr>
        <p:spPr>
          <a:xfrm>
            <a:off x="7131126" y="4847555"/>
            <a:ext cx="330397" cy="122667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DFB9919-0544-7D1A-4FCF-A5F83E812F74}"/>
              </a:ext>
            </a:extLst>
          </p:cNvPr>
          <p:cNvSpPr/>
          <p:nvPr/>
        </p:nvSpPr>
        <p:spPr>
          <a:xfrm>
            <a:off x="4776330" y="3980535"/>
            <a:ext cx="232593" cy="23156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D0B40D73-4739-4E4A-8445-9617F577C994}"/>
              </a:ext>
            </a:extLst>
          </p:cNvPr>
          <p:cNvSpPr/>
          <p:nvPr/>
        </p:nvSpPr>
        <p:spPr>
          <a:xfrm rot="16200000">
            <a:off x="5926336" y="4229950"/>
            <a:ext cx="326786" cy="2450622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06829DD-AFE2-5B0A-8293-1C8FC7766B4B}"/>
              </a:ext>
            </a:extLst>
          </p:cNvPr>
          <p:cNvSpPr txBox="1"/>
          <p:nvPr/>
        </p:nvSpPr>
        <p:spPr>
          <a:xfrm>
            <a:off x="5640771" y="5693634"/>
            <a:ext cx="112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lever arm</a:t>
            </a:r>
          </a:p>
        </p:txBody>
      </p:sp>
      <p:sp>
        <p:nvSpPr>
          <p:cNvPr id="18" name="Bogen 17">
            <a:extLst>
              <a:ext uri="{FF2B5EF4-FFF2-40B4-BE49-F238E27FC236}">
                <a16:creationId xmlns:a16="http://schemas.microsoft.com/office/drawing/2014/main" id="{691D2D8E-E839-F31C-387C-5A709FCC91D0}"/>
              </a:ext>
            </a:extLst>
          </p:cNvPr>
          <p:cNvSpPr/>
          <p:nvPr/>
        </p:nvSpPr>
        <p:spPr>
          <a:xfrm flipH="1">
            <a:off x="2371269" y="3082731"/>
            <a:ext cx="1965708" cy="1746372"/>
          </a:xfrm>
          <a:prstGeom prst="arc">
            <a:avLst>
              <a:gd name="adj1" fmla="val 16455465"/>
              <a:gd name="adj2" fmla="val 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Bogen 18">
            <a:extLst>
              <a:ext uri="{FF2B5EF4-FFF2-40B4-BE49-F238E27FC236}">
                <a16:creationId xmlns:a16="http://schemas.microsoft.com/office/drawing/2014/main" id="{42AEA7AD-C838-E8B1-6591-286E0477C2CC}"/>
              </a:ext>
            </a:extLst>
          </p:cNvPr>
          <p:cNvSpPr/>
          <p:nvPr/>
        </p:nvSpPr>
        <p:spPr>
          <a:xfrm>
            <a:off x="5219026" y="3085744"/>
            <a:ext cx="1965708" cy="1746372"/>
          </a:xfrm>
          <a:prstGeom prst="arc">
            <a:avLst>
              <a:gd name="adj1" fmla="val 16455465"/>
              <a:gd name="adj2" fmla="val 0"/>
            </a:avLst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D4CDB93-9009-8C22-D2B6-44CDAED2E951}"/>
              </a:ext>
            </a:extLst>
          </p:cNvPr>
          <p:cNvSpPr txBox="1"/>
          <p:nvPr/>
        </p:nvSpPr>
        <p:spPr>
          <a:xfrm>
            <a:off x="8180710" y="1270660"/>
            <a:ext cx="38941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Forward/Backward Linear Motion: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of forces leads to motion in current facing direction (force = mass * acceleration)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Friction force slowing the boat</a:t>
            </a:r>
          </a:p>
          <a:p>
            <a:endParaRPr lang="en-US" dirty="0"/>
          </a:p>
          <a:p>
            <a:r>
              <a:rPr lang="en-US" dirty="0"/>
              <a:t>Rotational Motion: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Sum of torques (force * lever arm)</a:t>
            </a:r>
          </a:p>
          <a:p>
            <a:pPr marL="285750" indent="-285750">
              <a:buFontTx/>
              <a:buChar char="-"/>
            </a:pPr>
            <a:r>
              <a:rPr lang="en-US" dirty="0"/>
              <a:t>Rotational friction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887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07229-7B1A-B8C1-F007-468E1F91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0FF6C7-0ECA-1747-A2A1-CDB53ABFF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29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Breitbild</PresentationFormat>
  <Paragraphs>50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</vt:lpstr>
      <vt:lpstr>Escaping Venice</vt:lpstr>
      <vt:lpstr>PowerPoint-Präsentation</vt:lpstr>
      <vt:lpstr>The rowing boat – Action Space</vt:lpstr>
      <vt:lpstr>The rowing boat – State Space</vt:lpstr>
      <vt:lpstr>The rowing boat - Dynamics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Knöbel</dc:creator>
  <cp:lastModifiedBy>Benjamin Knöbel</cp:lastModifiedBy>
  <cp:revision>2</cp:revision>
  <dcterms:created xsi:type="dcterms:W3CDTF">2025-11-26T18:53:09Z</dcterms:created>
  <dcterms:modified xsi:type="dcterms:W3CDTF">2025-11-26T18:58:48Z</dcterms:modified>
</cp:coreProperties>
</file>